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300" r:id="rId14"/>
    <p:sldId id="290" r:id="rId5"/>
    <p:sldId id="306" r:id="rId20"/>
    <p:sldId id="301" r:id="rId15"/>
    <p:sldId id="302" r:id="rId16"/>
    <p:sldId id="303" r:id="rId17"/>
    <p:sldId id="305" r:id="rId19"/>
    <p:sldId id="304" r:id="rId18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411480" y="201168"/>
            <a:ext cx="11384280" cy="1298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000" b="1">
                <a:solidFill>
                  <a:srgbClr val="0B2E4A"/>
                </a:solidFill>
                <a:latin typeface="Times New Roman"/>
              </a:rPr>
              <a:t>AUTONOMOUS PRODUCTION CHOKE CONTROLLER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900" b="0">
                <a:solidFill>
                  <a:srgbClr val="0B6FA4"/>
                </a:solidFill>
                <a:latin typeface="Times New Roman"/>
              </a:rPr>
              <a:t>for a Single Naturally Flowing Oil 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55648"/>
            <a:ext cx="5989320" cy="4069080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55648"/>
            <a:ext cx="5989320" cy="406908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0B6FA4"/>
                </a:solidFill>
                <a:latin typeface="Arial"/>
              </a:rPr>
              <a:t>Problem Statement ID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Honeywell Campus Connect – Round 2</a:t>
            </a:r>
          </a:p>
          <a:p>
            <a:pPr>
              <a:spcAft>
                <a:spcPts val="100"/>
              </a:spcAft>
            </a:pPr>
            <a:r>
              <a:rPr sz="1100" b="1" i="0">
                <a:solidFill>
                  <a:srgbClr val="0B6FA4"/>
                </a:solidFill>
                <a:latin typeface="Arial"/>
              </a:rPr>
              <a:t>Problem Statement Title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Autonomous Production Choke Controller for a
Single Naturally Flowing Oil Well</a:t>
            </a:r>
          </a:p>
          <a:p>
            <a:pPr>
              <a:spcAft>
                <a:spcPts val="100"/>
              </a:spcAft>
            </a:pPr>
            <a:r>
              <a:rPr sz="1100" b="1" i="0">
                <a:solidFill>
                  <a:srgbClr val="0B6FA4"/>
                </a:solidFill>
                <a:latin typeface="Arial"/>
              </a:rPr>
              <a:t>Theme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Advanced Process Control / Industrial Automation
(Upstream Oil &amp; Gas Production Optimisation)</a:t>
            </a:r>
          </a:p>
          <a:p>
            <a:pPr>
              <a:spcAft>
                <a:spcPts val="100"/>
              </a:spcAft>
            </a:pPr>
            <a:r>
              <a:rPr sz="1100" b="1" i="0">
                <a:solidFill>
                  <a:srgbClr val="0B6FA4"/>
                </a:solidFill>
                <a:latin typeface="Arial"/>
              </a:rPr>
              <a:t>PS Category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Software</a:t>
            </a:r>
          </a:p>
          <a:p>
            <a:pPr>
              <a:spcAft>
                <a:spcPts val="100"/>
              </a:spcAft>
            </a:pPr>
            <a:r>
              <a:rPr sz="1100" b="1" i="0">
                <a:solidFill>
                  <a:srgbClr val="0B6FA4"/>
                </a:solidFill>
                <a:latin typeface="Arial"/>
              </a:rPr>
              <a:t>Student Name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Rahul Paul</a:t>
            </a:r>
          </a:p>
          <a:p>
            <a:pPr>
              <a:spcAft>
                <a:spcPts val="100"/>
              </a:spcAft>
            </a:pPr>
            <a:r>
              <a:rPr sz="1100" b="1" i="0">
                <a:solidFill>
                  <a:srgbClr val="0B6FA4"/>
                </a:solidFill>
                <a:latin typeface="Arial"/>
              </a:rPr>
              <a:t>Student ID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755648"/>
            <a:ext cx="5166360" cy="406908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55648"/>
            <a:ext cx="5166360" cy="406908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HEADLINE RESULTS</a:t>
            </a:r>
          </a:p>
          <a:p>
            <a:pPr>
              <a:spcAft>
                <a:spcPts val="100"/>
              </a:spcAft>
            </a:pPr>
            <a:r>
              <a:rPr sz="1600" b="1" i="0">
                <a:solidFill>
                  <a:srgbClr val="FFC107"/>
                </a:solidFill>
                <a:latin typeface="Arial"/>
              </a:rPr>
              <a:t>0</a:t>
            </a:r>
          </a:p>
          <a:p>
            <a:pPr>
              <a:spcAft>
                <a:spcPts val="1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constraint violations in 30 nominal runs
and in 150 randomised-model runs (Scenario B)</a:t>
            </a:r>
          </a:p>
          <a:p>
            <a:pPr>
              <a:spcAft>
                <a:spcPts val="100"/>
              </a:spcAft>
            </a:pPr>
            <a:r>
              <a:rPr sz="1600" b="1" i="0">
                <a:solidFill>
                  <a:srgbClr val="FFC107"/>
                </a:solidFill>
                <a:latin typeface="Arial"/>
              </a:rPr>
              <a:t>+5.6 % oil</a:t>
            </a:r>
          </a:p>
          <a:p>
            <a:pPr>
              <a:spcAft>
                <a:spcPts val="1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vs a cautious operator at the same
zero violations; a rate PI breaches on 69 % of intervals</a:t>
            </a:r>
          </a:p>
          <a:p>
            <a:pPr>
              <a:spcAft>
                <a:spcPts val="100"/>
              </a:spcAft>
            </a:pPr>
            <a:r>
              <a:rPr sz="1600" b="1" i="0">
                <a:solidFill>
                  <a:srgbClr val="FFC107"/>
                </a:solidFill>
                <a:latin typeface="Arial"/>
              </a:rPr>
              <a:t>R² = 0.98 – 0.99</a:t>
            </a:r>
          </a:p>
          <a:p>
            <a:pPr>
              <a:spcAft>
                <a:spcPts val="1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model accuracy on the independent
Honeywell reference dataset</a:t>
            </a:r>
          </a:p>
          <a:p>
            <a:pPr>
              <a:spcAft>
                <a:spcPts val="100"/>
              </a:spcAft>
            </a:pPr>
            <a:r>
              <a:rPr sz="1600" b="1" i="0">
                <a:solidFill>
                  <a:srgbClr val="FFC107"/>
                </a:solidFill>
                <a:latin typeface="Arial"/>
              </a:rPr>
              <a:t>survives</a:t>
            </a:r>
          </a:p>
          <a:p>
            <a:pPr>
              <a:spcAft>
                <a:spcPts val="1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48 psi of unmodelled depletion, a 12 % water-cut
step and a two-tag IO-card failure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2" name="Rectangle 15361"/>
          <p:cNvSpPr/>
          <p:nvPr/>
        </p:nvSpPr>
        <p:spPr>
          <a:xfrm>
            <a:off x="347472" y="1078992"/>
            <a:ext cx="5806440" cy="2331720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347472" y="1078992"/>
            <a:ext cx="5806440" cy="233172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B6FA4"/>
                </a:solidFill>
                <a:latin typeface="Arial"/>
              </a:rPr>
              <a:t>THE PROBLEM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Operators set production chokes manually and conservatively. Wells run below capacity, or drift outside safe pressure limits. Manual optimisation does not scale to hundreds of wells.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B6FA4"/>
                </a:solidFill>
                <a:latin typeface="Arial"/>
              </a:rPr>
              <a:t>THE SOLUTION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A closed-loop controller that recomputes the choke position every hour to track the operator's oil-rate target while guaranteeing that wellhead, flowline and bottom-hole pressures never leave their safe envelope — and that respects the ±5 %/interval choke ramp-rate limit at all times.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347472" y="3566160"/>
            <a:ext cx="5806440" cy="2606040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347472" y="3566160"/>
            <a:ext cx="5806440" cy="260604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E8820C"/>
                </a:solidFill>
                <a:latin typeface="Arial"/>
              </a:rPr>
              <a:t>HOW IT ADDRESSES THE PROBLEM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Removes the human from the hourly choke decision — consistent, repeatable, scalable to a whole field.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Safety is structural, not advisory: a move that is predicted to break a limit is rejected before it is made.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When the requested target is impossible, the controller says so, reports which limit is binding, and produces the most it safely can.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▸ 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Recovers automatically if the well starts outside its envelope after a shut-in or upset — demonstrated separately.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6355080" y="1078992"/>
            <a:ext cx="5468112" cy="5093208"/>
          </a:xfrm>
          <a:prstGeom prst="rect">
            <a:avLst/>
          </a:prstGeom>
          <a:solidFill>
            <a:srgbClr val="F6F2FA"/>
          </a:solidFill>
          <a:ln w="158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6355080" y="1078992"/>
            <a:ext cx="5468112" cy="509320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6A1B9A"/>
                </a:solidFill>
                <a:latin typeface="Arial"/>
              </a:rPr>
              <a:t>INNOVATION AND UNIQUENESS</a:t>
            </a:r>
          </a:p>
          <a:p>
            <a:pPr>
              <a:spcAft>
                <a:spcPts val="100"/>
              </a:spcAft>
            </a:pPr>
            <a:r>
              <a:rPr sz="1150" b="1" i="0">
                <a:solidFill>
                  <a:srgbClr val="0B2E4A"/>
                </a:solidFill>
                <a:latin typeface="Arial"/>
              </a:rPr>
              <a:t>Two-layer APC architecture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A Steady-State Target Optimiser decides where the well should end up; a dynamic MPC decides how to get there. This is how industrial APC (Honeywell Profit Controller / RMPCT) is actually built — and it is what makes an infeasible target degrade gracefully instead of saturating the choke.</a:t>
            </a:r>
          </a:p>
          <a:p>
            <a:pPr>
              <a:spcAft>
                <a:spcPts val="100"/>
              </a:spcAft>
            </a:pPr>
            <a:r>
              <a:rPr sz="1150" b="1" i="0">
                <a:solidFill>
                  <a:srgbClr val="0B2E4A"/>
                </a:solidFill>
                <a:latin typeface="Arial"/>
              </a:rPr>
              <a:t>Physics-structured simulator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Steady state is solved from IPR + tubing lift + choke orifice equations simultaneously, not curve-fitted. Parameters are calibrated to the reference dataset, so plant–model mismatch is realistic.</a:t>
            </a:r>
          </a:p>
          <a:p>
            <a:pPr>
              <a:spcAft>
                <a:spcPts val="100"/>
              </a:spcAft>
            </a:pPr>
            <a:r>
              <a:rPr sz="1150" b="1" i="0">
                <a:solidFill>
                  <a:srgbClr val="0B2E4A"/>
                </a:solidFill>
                <a:latin typeface="Arial"/>
              </a:rPr>
              <a:t>Honest model validation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The control model is identified ONLY from our own step tests, then free-run against the independent Honeywell reference data: R² = 0.98–0.99 on data it has never seen.</a:t>
            </a:r>
          </a:p>
          <a:p>
            <a:pPr>
              <a:spcAft>
                <a:spcPts val="100"/>
              </a:spcAft>
            </a:pPr>
            <a:r>
              <a:rPr sz="1150" b="1" i="0">
                <a:solidFill>
                  <a:srgbClr val="0B2E4A"/>
                </a:solidFill>
                <a:latin typeface="Arial"/>
              </a:rPr>
              <a:t>Explicit candidate rejection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451 candidate move-plans are rolled out over a 40 h horizon every interval; any plan predicted to leave the envelope is discarded. Constraints are hard, not penalties.</a:t>
            </a:r>
          </a:p>
          <a:p>
            <a:pPr>
              <a:spcAft>
                <a:spcPts val="100"/>
              </a:spcAft>
            </a:pPr>
            <a:r>
              <a:rPr sz="1150" b="1" i="0">
                <a:solidFill>
                  <a:srgbClr val="0B2E4A"/>
                </a:solidFill>
                <a:latin typeface="Arial"/>
              </a:rPr>
              <a:t>Offset-free by construction</a:t>
            </a:r>
          </a:p>
          <a:p>
            <a:pPr>
              <a:spcAft>
                <a:spcPts val="80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A DMC-style output-disturbance estimator feeds both layers, so model mismatch and slow drift produce no steady-state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TECHNICAL APPROACH  —  CONTROL STRATEGY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0" name="Picture 17409" descr="contro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896112"/>
            <a:ext cx="10149840" cy="3868180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365760" y="4791456"/>
            <a:ext cx="3721608" cy="1572768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4791456"/>
            <a:ext cx="3721608" cy="157276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B6FA4"/>
                </a:solidFill>
                <a:latin typeface="Arial"/>
              </a:rPr>
              <a:t>PREDICTION METHODOLOGY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Identified Hammerstein model, not the simulator physics — the controller never sees the plant equations.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Reads back the MEASURED choke position each interval, exactly as the brief specifies, so a sticking valve cannot desynchronise it.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Prediction horizon P = 40 h ≈ 3 × τ_BHP, so the slowest constrained variable is fully seen to settle.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Output-disturbance estimate added to every prediction → offset-free.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233672" y="4791456"/>
            <a:ext cx="3721608" cy="1572768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233672" y="4791456"/>
            <a:ext cx="3721608" cy="157276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E8820C"/>
                </a:solidFill>
                <a:latin typeface="Arial"/>
              </a:rPr>
              <a:t>CHOKE MOVE SELECTION LOGIC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41 × 11 = 451 candidate two-move plans, each inside the ±5 %/interval ramp limit.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All 451 rolled out over the full horizon in one vectorised NumPy pass (~1 ms).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Cost = Σ(Q−Q_sp)² + w·Σ Δu² — move suppression on EVERY move, then apply the first move only.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Tuning was MEASURED, not chosen: M=1 costs 2.5× the choke travel, M=3 adds nothing, w_move=0 costs 4× the travel.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8101583" y="4791456"/>
            <a:ext cx="3721608" cy="1572768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101583" y="4791456"/>
            <a:ext cx="3721608" cy="157276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Arial"/>
              </a:rPr>
              <a:t>CONSTRAINT HANDLING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Hard rejection: any plan predicted to leave the WHP / FLP / BHP envelope is discarded outright.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5 psi back-off inside each limit absorbs noise and mismatch — costs 0.4 % of production.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SSTO clips an infeasible target to the max safe rate and names the binding constraint.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RECOVERY mode: if nothing is feasible, take the move that minimises violation.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6419088"/>
            <a:ext cx="11475720" cy="31089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0B2E4A"/>
                </a:solidFill>
                <a:latin typeface="Arial"/>
              </a:rPr>
              <a:t>Technologies:  Python 3 · NumPy · SciPy (optimisation &amp; root-finding) · pandas · Matplotlib · Jupyter — no commercial solver required; the whole controller runs in ~1 ms per hourly interval on a laptop.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FEASIBILITY, VIABILITY &amp; LESSONS LEARNED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ectangle 17409"/>
          <p:cNvSpPr/>
          <p:nvPr/>
        </p:nvSpPr>
        <p:spPr>
          <a:xfrm>
            <a:off x="347472" y="1024128"/>
            <a:ext cx="3749039" cy="2542032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47472" y="1024128"/>
            <a:ext cx="3749039" cy="2542032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2E7D32"/>
                </a:solidFill>
                <a:latin typeface="Arial"/>
              </a:rPr>
              <a:t>FEASIBILITY OF THE IDEA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Runs in ~1 ms per hourly control interval — orders of magnitude of headroom on any field controller or edge gateway.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Pure Python / NumPy / SciPy: no commercial solver, no licence cost.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Needs only measurements the well already has: Q, WHP, FLP, BHP and choke position.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Model is re-identified from a routine 300 h step test — a standard commissioning activity.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Maps directly onto existing DCS/APC infrastructure (Honeywell Experion / Profit Controller).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224528" y="1024128"/>
            <a:ext cx="3749039" cy="2542032"/>
          </a:xfrm>
          <a:prstGeom prst="rect">
            <a:avLst/>
          </a:prstGeom>
          <a:solidFill>
            <a:srgbClr val="FDF0F0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224528" y="1024128"/>
            <a:ext cx="3749039" cy="2542032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C62828"/>
                </a:solidFill>
                <a:latin typeface="Arial"/>
              </a:rPr>
              <a:t>CHALLENGES AND RISKS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Plant–model mismatch as the reservoir depletes and water cut rises — measured: 4.7 % of severely corrupted models graze the BHP limit.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A CORRELATED instrument failure (shared IO card) taking out two constrained tags at once — the single-tag case is largely covered by constraint redundancy.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Measurement noise far above nominal: the controller fails at ~12× the noise we assumed.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Slugging / unmodelled multiphase dynamics faster than the 1 h interval.</a:t>
            </a:r>
          </a:p>
          <a:p>
            <a:pPr>
              <a:spcAft>
                <a:spcPts val="5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Operator trust — an autonomous controller that moves the choke unattended.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8101583" y="1024128"/>
            <a:ext cx="3739896" cy="2542032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8101583" y="1024128"/>
            <a:ext cx="3739896" cy="2542032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B6FA4"/>
                </a:solidFill>
                <a:latin typeface="Arial"/>
              </a:rPr>
              <a:t>MITIGATION STRATEGIES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▸  </a:t>
            </a:r>
            <a:r>
              <a:rPr sz="950" b="0" i="0">
                <a:solidFill>
                  <a:srgbClr val="1A1A1A"/>
                </a:solidFill>
                <a:latin typeface="Arial"/>
              </a:rPr>
              <a:t>Output-disturbance estimator: verified against 48 psi of unmodelled depletion and a 12 % water-cut step, both with zero violations.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▸  </a:t>
            </a:r>
            <a:r>
              <a:rPr sz="950" b="0" i="0">
                <a:solidFill>
                  <a:srgbClr val="1A1A1A"/>
                </a:solidFill>
                <a:latin typeface="Arial"/>
              </a:rPr>
              <a:t>Bias the identified τ of the slowest constrained variable up 50 % — closes the mismatch failure for ~0.9 bbl/hr.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▸  </a:t>
            </a:r>
            <a:r>
              <a:rPr sz="950" b="0" i="0">
                <a:solidFill>
                  <a:srgbClr val="1A1A1A"/>
                </a:solidFill>
                <a:latin typeface="Arial"/>
              </a:rPr>
              <a:t>5 psi constraint back-off: holds to 8× nominal noise; 0 psi back-off fails.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▸  </a:t>
            </a:r>
            <a:r>
              <a:rPr sz="950" b="0" i="0">
                <a:solidFill>
                  <a:srgbClr val="1A1A1A"/>
                </a:solidFill>
                <a:latin typeface="Arial"/>
              </a:rPr>
              <a:t>Bad-data layer (range / rate-of-change / freeze) with HOLD on sustained faults — turns a 64-interval, 18.9 psi IO-card excursion into zero; back it with independent IO paths for constraint-critical tags.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▸  </a:t>
            </a:r>
            <a:r>
              <a:rPr sz="950" b="0" i="0">
                <a:solidFill>
                  <a:srgbClr val="1A1A1A"/>
                </a:solidFill>
                <a:latin typeface="Arial"/>
              </a:rPr>
              <a:t>Controller publishes mode, achievable rate and active constraint every interval; RECOVERY auto-returns the well.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47472" y="3621024"/>
            <a:ext cx="11494008" cy="2834640"/>
          </a:xfrm>
          <a:prstGeom prst="rect">
            <a:avLst/>
          </a:prstGeom>
          <a:solidFill>
            <a:srgbClr val="F6F2FA"/>
          </a:solidFill>
          <a:ln w="158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347472" y="3621024"/>
            <a:ext cx="11494008" cy="283464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6A1B9A"/>
                </a:solidFill>
                <a:latin typeface="Arial"/>
              </a:rPr>
              <a:t>LESSONS LEARNED</a:t>
            </a:r>
          </a:p>
          <a:p>
            <a:pPr>
              <a:spcAft>
                <a:spcPts val="100"/>
              </a:spcAft>
            </a:pPr>
            <a:r>
              <a:rPr sz="960" b="1" i="0">
                <a:solidFill>
                  <a:srgbClr val="0B2E4A"/>
                </a:solidFill>
                <a:latin typeface="Arial"/>
              </a:rPr>
              <a:t>Penalise every move in the plan, not just the first.</a:t>
            </a:r>
          </a:p>
          <a:p>
            <a:pPr>
              <a:spcAft>
                <a:spcPts val="300"/>
              </a:spcAft>
            </a:pPr>
            <a:r>
              <a:rPr sz="819" b="0" i="0">
                <a:solidFill>
                  <a:srgbClr val="555555"/>
                </a:solidFill>
                <a:latin typeface="Arial"/>
              </a:rPr>
              <a:t>Our first cost function suppressed only du1. The optimiser learned to set du1 = 0 and let du2 do the work for free - and since a receding-horizon controller only ever applies the first move, the controller stalled with a 3-7 bbl/hr steady-state offset. Penalising all moves removed it completely. The single biggest bug in the project.</a:t>
            </a:r>
          </a:p>
          <a:p>
            <a:pPr>
              <a:spcAft>
                <a:spcPts val="100"/>
              </a:spcAft>
            </a:pPr>
            <a:r>
              <a:rPr sz="960" b="1" i="0">
                <a:solidFill>
                  <a:srgbClr val="0B2E4A"/>
                </a:solidFill>
                <a:latin typeface="Arial"/>
              </a:rPr>
              <a:t>We misdiagnosed our own controller, and the sweep caught it.</a:t>
            </a:r>
          </a:p>
          <a:p>
            <a:pPr>
              <a:spcAft>
                <a:spcPts val="300"/>
              </a:spcAft>
            </a:pPr>
            <a:r>
              <a:rPr sz="819" b="0" i="0">
                <a:solidFill>
                  <a:srgbClr val="555555"/>
                </a:solidFill>
                <a:latin typeface="Arial"/>
              </a:rPr>
              <a:t>We had recorded 'the horizon must cover the slowest constrained variable' as a lesson, because violations vanished when we lengthened P from 20 to 40 h. Sweeping P properly from 5 to 50 h shows that is NOT what fixed it - horizon length only tightens the worst excursion from 0.77 to 0.23 psi and never causes a violation on its own. The back-off, changed at the same time, did the real work. The lesson is about method: we changed two things at once and credited the wrong one.</a:t>
            </a:r>
          </a:p>
          <a:p>
            <a:pPr>
              <a:spcAft>
                <a:spcPts val="100"/>
              </a:spcAft>
            </a:pPr>
            <a:r>
              <a:rPr sz="960" b="1" i="0">
                <a:solidFill>
                  <a:srgbClr val="0B2E4A"/>
                </a:solidFill>
                <a:latin typeface="Arial"/>
              </a:rPr>
              <a:t>Diagnosing the mechanism beats blanket conservatism.</a:t>
            </a:r>
          </a:p>
          <a:p>
            <a:pPr>
              <a:spcAft>
                <a:spcPts val="300"/>
              </a:spcAft>
            </a:pPr>
            <a:r>
              <a:rPr sz="819" b="0" i="0">
                <a:solidFill>
                  <a:srgbClr val="555555"/>
                </a:solidFill>
                <a:latin typeface="Arial"/>
              </a:rPr>
              <a:t>Every mismatch failure had one cause - under-estimated tau_BHP. A targeted fix (bias the identified tau of the slowest constrained variable up 50 %) reaches zero violations for ~0.9 bbl/hr; blind conservatism via a 12 psi back-off costs 3.9 bbl/hr for the same result.</a:t>
            </a:r>
          </a:p>
          <a:p>
            <a:pPr>
              <a:spcAft>
                <a:spcPts val="100"/>
              </a:spcAft>
            </a:pPr>
            <a:r>
              <a:rPr sz="960" b="1" i="0">
                <a:solidFill>
                  <a:srgbClr val="0B2E4A"/>
                </a:solidFill>
                <a:latin typeface="Arial"/>
              </a:rPr>
              <a:t>The safety margin is not slack - we tried to spend it and put it back.</a:t>
            </a:r>
          </a:p>
          <a:p>
            <a:pPr>
              <a:spcAft>
                <a:spcPts val="300"/>
              </a:spcAft>
            </a:pPr>
            <a:r>
              <a:rPr sz="819" b="0" i="0">
                <a:solidFill>
                  <a:srgbClr val="555555"/>
                </a:solidFill>
                <a:latin typeface="Arial"/>
              </a:rPr>
              <a:t>A fixed 5 psi back-off looks over-conservative when a narrow variable binds (5 psi is 1.1 % of BHP's span but 8.1 % of FLP's). Making it proportional to each span recovered 2.4 points of production - and lost the zero-violation guarantee on 9 % of 200 randomised envelopes. We put it back. Knowing the price of a margin is worth more than shaving it.</a:t>
            </a:r>
          </a:p>
          <a:p>
            <a:pPr>
              <a:spcAft>
                <a:spcPts val="100"/>
              </a:spcAft>
            </a:pPr>
            <a:r>
              <a:rPr sz="960" b="1" i="0">
                <a:solidFill>
                  <a:srgbClr val="0B2E4A"/>
                </a:solidFill>
                <a:latin typeface="Arial"/>
              </a:rPr>
              <a:t>Constraint redundancy is real - and it changes what a fault test means.</a:t>
            </a:r>
          </a:p>
          <a:p>
            <a:pPr>
              <a:spcAft>
                <a:spcPts val="300"/>
              </a:spcAft>
            </a:pPr>
            <a:r>
              <a:rPr sz="819" b="0" i="0">
                <a:solidFill>
                  <a:srgbClr val="555555"/>
                </a:solidFill>
                <a:latin typeface="Arial"/>
              </a:rPr>
              <a:t>A single corrupted pressure transmitter did far less damage than expected, because a second constraint on a healthy measurement sat only 5 psi behind it. The dangerous fault is the correlated one - a shared IO card. A fault study that injects only single-tag faults will overstate how safe the system is.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ectangle 17409"/>
          <p:cNvSpPr/>
          <p:nvPr/>
        </p:nvSpPr>
        <p:spPr>
          <a:xfrm>
            <a:off x="347472" y="987552"/>
            <a:ext cx="3977639" cy="3419856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47472" y="987552"/>
            <a:ext cx="3977639" cy="341985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B6FA4"/>
                </a:solidFill>
                <a:latin typeface="Arial"/>
              </a:rPr>
              <a:t>CODE SUBMITTED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Autonomous_Choke_Control.ipynb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executed notebook — runs the whole study end-to-end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config/operating_limits.json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the six safe limits + derivation — the only place they live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ASSUMPTIONS.md  ·  DEVELOPMENT_LOG.md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13 assumptions with limitations · the build phase by phase, including what went wrong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src/simulator.py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physics-structured well simulator + operating envelope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src/external_simulator.py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adapter — drive the study with any other simulator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src/identification.py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step-test design, Hammerstein identification, cross-validation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src/controller.py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SSTO + dynamic MPC + closed-loop driver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src/baselines.py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PI + operator baselines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src/robustness.py  ·  stress_tests.py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mismatch sweeps · disturbances · instrument faults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src/scenarios.py / studies.py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one-command reproduction of every result</a:t>
            </a:r>
          </a:p>
          <a:p>
            <a:pPr>
              <a:spcAft>
                <a:spcPts val="0"/>
              </a:spcAft>
            </a:pPr>
            <a:r>
              <a:rPr sz="850" b="1" i="0">
                <a:solidFill>
                  <a:srgbClr val="0B2E4A"/>
                </a:solidFill>
                <a:latin typeface="Consolas"/>
              </a:rPr>
              <a:t>tests/  (5 suites)</a:t>
            </a:r>
          </a:p>
          <a:p>
            <a:pPr>
              <a:spcAft>
                <a:spcPts val="200"/>
              </a:spcAft>
            </a:pPr>
            <a:r>
              <a:rPr sz="740" b="0" i="0">
                <a:solidFill>
                  <a:srgbClr val="555555"/>
                </a:solidFill>
                <a:latin typeface="Arial"/>
              </a:rPr>
              <a:t>spec compliance · equivalence · regression · reported numbers · simulator swap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47472" y="4480560"/>
            <a:ext cx="3977639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4480560"/>
            <a:ext cx="3977639" cy="182880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0"/>
              </a:spcAft>
            </a:pPr>
            <a:r>
              <a:rPr sz="819" b="0" i="0">
                <a:solidFill>
                  <a:srgbClr val="8BC34A"/>
                </a:solidFill>
                <a:latin typeface="Consolas"/>
              </a:rPr>
              <a:t># the required simulator interface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E6E6E6"/>
                </a:solidFill>
                <a:latin typeface="Consolas"/>
              </a:rPr>
              <a:t>sim  = WellSimulator(u0=40.0)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E6E6E6"/>
                </a:solidFill>
                <a:latin typeface="Consolas"/>
              </a:rPr>
              <a:t>ctrl = ChokeMPC(model, ENV, CFG, u0=40.0)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82AAFF"/>
                </a:solidFill>
                <a:latin typeface="Consolas"/>
              </a:rPr>
              <a:t>for k in range(n_steps):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E6E6E6"/>
                </a:solidFill>
                <a:latin typeface="Consolas"/>
              </a:rPr>
              <a:t>    u = ctrl.compute(meas, Q_target)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E6E6E6"/>
                </a:solidFill>
                <a:latin typeface="Consolas"/>
              </a:rPr>
              <a:t>    Q, WHP, FLP, BHP = sim.step(u)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8BC34A"/>
                </a:solidFill>
                <a:latin typeface="Consolas"/>
              </a:rPr>
              <a:t># reproduce every figure and result: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C107"/>
                </a:solidFill>
                <a:latin typeface="Consolas"/>
              </a:rPr>
              <a:t>$ python src/scenarios.py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C107"/>
                </a:solidFill>
                <a:latin typeface="Consolas"/>
              </a:rPr>
              <a:t>$ python src/studies.py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8BC34A"/>
                </a:solidFill>
                <a:latin typeface="Consolas"/>
              </a:rPr>
              <a:t># drive it with a different simulator: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C107"/>
                </a:solidFill>
                <a:latin typeface="Consolas"/>
              </a:rPr>
              <a:t>$ python src/adopt_simulator.py module:Sim</a:t>
            </a:r>
          </a:p>
        </p:txBody>
      </p:sp>
      <p:pic>
        <p:nvPicPr>
          <p:cNvPr id="17414" name="Picture 17413" descr="scenari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024128"/>
            <a:ext cx="7360920" cy="4352601"/>
          </a:xfrm>
          <a:prstGeom prst="rect">
            <a:avLst/>
          </a:prstGeom>
        </p:spPr>
      </p:pic>
      <p:sp>
        <p:nvSpPr>
          <p:cNvPr id="17415" name="Rectangle 17414"/>
          <p:cNvSpPr/>
          <p:nvPr/>
        </p:nvSpPr>
        <p:spPr>
          <a:xfrm>
            <a:off x="4480560" y="5532120"/>
            <a:ext cx="7360920" cy="329184"/>
          </a:xfrm>
          <a:prstGeom prst="rect">
            <a:avLst/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480560" y="5532120"/>
            <a:ext cx="7360920" cy="329184"/>
          </a:xfrm>
          <a:prstGeom prst="rect">
            <a:avLst/>
          </a:prstGeom>
          <a:noFill/>
        </p:spPr>
        <p:txBody>
          <a:bodyPr wrap="square" lIns="100584" rIns="100584" tIns="54864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Scenario C — infeasible target: SSTO caps at the max safe rate, BHP holds exactly at its limit, no violation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80560" y="5943600"/>
            <a:ext cx="7360920" cy="29260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0"/>
              </a:spcAft>
            </a:pPr>
            <a:r>
              <a:rPr sz="940" b="0" i="1">
                <a:solidFill>
                  <a:srgbClr val="555555"/>
                </a:solidFill>
                <a:latin typeface="Arial"/>
              </a:rPr>
              <a:t>Full-size trend plots for Scenarios A, B and C, the step-test identification, the model cross-validation and the operating-envelope map are in  /figures ;  all numeric results in  /results .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ectangle 17409"/>
          <p:cNvSpPr/>
          <p:nvPr/>
        </p:nvSpPr>
        <p:spPr>
          <a:xfrm>
            <a:off x="347472" y="1051560"/>
            <a:ext cx="5669280" cy="3931920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47472" y="1051560"/>
            <a:ext cx="5669280" cy="393192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B6FA4"/>
                </a:solidFill>
                <a:latin typeface="Arial"/>
              </a:rPr>
              <a:t>MODEL PREDICTIVE CONTROL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Qin, S. J. &amp; Badgwell, T. A. (2003). “A survey of industrial model predictive control technology.” Control Engineering Practice, 11(7), 733–764. — source for the two-layer SSTO + dynamic-MPC architecture.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Rawlings, J. B., Mayne, D. Q. &amp; Diehl, M. (2017). Model Predictive Control: Theory, Computation and Design, 2nd ed. Nob Hill. — constraint handling, offset-free control, target calculation.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Cutler, C. R. &amp; Ramaker, B. L. (1980). “Dynamic Matrix Control — a computer control algorithm.” Proc. Joint Automatic Control Conference. — the constant output-disturbance estimator used here.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Muske, K. R. &amp; Badgwell, T. A. (2002). “Disturbance modeling for offset-free linear model predictive control.” Journal of Process Control, 12(5), 617–632.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Honeywell Process Solutions. Profit Controller / RMPCT product documentation — industrial reference for range-control and steady-state optimisation layering.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6172200" y="1051560"/>
            <a:ext cx="5669280" cy="3931920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172200" y="1051560"/>
            <a:ext cx="5669280" cy="393192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E8820C"/>
                </a:solidFill>
                <a:latin typeface="Arial"/>
              </a:rPr>
              <a:t>PETROLEUM PRODUCTION ENGINEERING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Beggs, H. D. (2003). Production Optimization Using NODAL Analysis, 2nd ed. OGCI. — IPR/VLP coupling and the choke as the system boundary.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Guo, B., Lyons, W. C. &amp; Ghalambor, A. (2007). Petroleum Production Engineering: A Computer-Assisted Approach. Elsevier. — choke flow correlations and wellbore pressure traverse.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Vogel, J. V. (1968). “Inflow performance relationships for solution-gas drive wells.” JPT, 20(1), 83–92. — inflow performance; a linear IPR was sufficient for this dataset.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Sachdeva, R. et al. (1986). “Two-phase flow through chokes.” SPE 15657. — subcritical choke behaviour, Q ∝ CdA(u)·√ΔP.</a:t>
            </a:r>
          </a:p>
          <a:p>
            <a:pPr>
              <a:spcAft>
                <a:spcPts val="700"/>
              </a:spcAft>
            </a:pPr>
            <a:r>
              <a:rPr sz="980" b="1">
                <a:solidFill>
                  <a:srgbClr val="1A1A1A"/>
                </a:solidFill>
                <a:latin typeface="Arial"/>
              </a:rPr>
              <a:t>▸  </a:t>
            </a:r>
            <a:r>
              <a:rPr sz="980" b="0" i="0">
                <a:solidFill>
                  <a:srgbClr val="1A1A1A"/>
                </a:solidFill>
                <a:latin typeface="Arial"/>
              </a:rPr>
              <a:t>Jansen, J. D. (2017). Nodal Analysis of Oil and Gas Production Systems. SPE Textbook Series. — production-system modelling and constraint envelopes.</a:t>
            </a:r>
          </a:p>
          <a:p>
            <a:pPr>
              <a:spcAft>
                <a:spcPts val="300"/>
              </a:spcAft>
            </a:pPr>
            <a:r>
              <a:rPr sz="1300" b="1" i="0">
                <a:solidFill>
                  <a:srgbClr val="E8820C"/>
                </a:solidFill>
                <a:latin typeface="Arial"/>
              </a:rPr>
              <a:t>DATA</a:t>
            </a:r>
          </a:p>
          <a:p>
            <a:pPr>
              <a:spcAft>
                <a:spcPts val="0"/>
              </a:spcAft>
            </a:pPr>
            <a:r>
              <a:rPr sz="980" b="0" i="0">
                <a:solidFill>
                  <a:srgbClr val="1A1A1A"/>
                </a:solidFill>
                <a:latin typeface="Arial"/>
              </a:rPr>
              <a:t>Autonomous_Choke_Control_Simulated_Dataset.csv — reference dataset supplied with the problem statement, used only to calibrate the simulator and as an independent validation set for the identified control model.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47472" y="5138928"/>
            <a:ext cx="11494008" cy="1078992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47472" y="5138928"/>
            <a:ext cx="11494008" cy="1078992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Arial"/>
              </a:rPr>
              <a:t>WHERE THIS GOES NEXT</a:t>
            </a:r>
          </a:p>
          <a:p>
            <a:pPr>
              <a:spcAft>
                <a:spcPts val="200"/>
              </a:spcAft>
            </a:pPr>
            <a:r>
              <a:rPr sz="940" b="1">
                <a:solidFill>
                  <a:srgbClr val="1A1A1A"/>
                </a:solidFill>
                <a:latin typeface="Arial"/>
              </a:rPr>
              <a:t>▸  </a:t>
            </a:r>
            <a:r>
              <a:rPr sz="940" b="0" i="0">
                <a:solidFill>
                  <a:srgbClr val="1A1A1A"/>
                </a:solidFill>
                <a:latin typeface="Arial"/>
              </a:rPr>
              <a:t>Multi-well: replace the calibrated manifold correlation with a network model and add a shared separator-capacity constraint across wells.</a:t>
            </a:r>
          </a:p>
          <a:p>
            <a:pPr>
              <a:spcAft>
                <a:spcPts val="200"/>
              </a:spcAft>
            </a:pPr>
            <a:r>
              <a:rPr sz="940" b="1">
                <a:solidFill>
                  <a:srgbClr val="1A1A1A"/>
                </a:solidFill>
                <a:latin typeface="Arial"/>
              </a:rPr>
              <a:t>▸  </a:t>
            </a:r>
            <a:r>
              <a:rPr sz="940" b="0" i="0">
                <a:solidFill>
                  <a:srgbClr val="1A1A1A"/>
                </a:solidFill>
                <a:latin typeface="Arial"/>
              </a:rPr>
              <a:t>Adaptive: track reservoir depletion and rising water cut by scheduling periodic re-identification; the disturbance estimator already absorbs slow drift.</a:t>
            </a:r>
          </a:p>
          <a:p>
            <a:pPr>
              <a:spcAft>
                <a:spcPts val="200"/>
              </a:spcAft>
            </a:pPr>
            <a:r>
              <a:rPr sz="940" b="1">
                <a:solidFill>
                  <a:srgbClr val="1A1A1A"/>
                </a:solidFill>
                <a:latin typeface="Arial"/>
              </a:rPr>
              <a:t>▸  </a:t>
            </a:r>
            <a:r>
              <a:rPr sz="940" b="0" i="0">
                <a:solidFill>
                  <a:srgbClr val="1A1A1A"/>
                </a:solidFill>
                <a:latin typeface="Arial"/>
              </a:rPr>
              <a:t>Economic layer: replace “track the rate target” in the SSTO with “maximise oil revenue minus water-handling cost” — same architecture, richer objective.</a:t>
            </a:r>
          </a:p>
          <a:p>
            <a:pPr>
              <a:spcAft>
                <a:spcPts val="200"/>
              </a:spcAft>
            </a:pPr>
            <a:r>
              <a:rPr sz="940" b="1">
                <a:solidFill>
                  <a:srgbClr val="1A1A1A"/>
                </a:solidFill>
                <a:latin typeface="Arial"/>
              </a:rPr>
              <a:t>▸  </a:t>
            </a:r>
            <a:r>
              <a:rPr sz="940" b="0" i="0">
                <a:solidFill>
                  <a:srgbClr val="1A1A1A"/>
                </a:solidFill>
                <a:latin typeface="Arial"/>
              </a:rPr>
              <a:t>Promote WHT and annulus pressure from monitored variables to hard constraints once integrity limits are defined for the asset.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PROCESS UNDERSTANDING &amp;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2" name="Rectangle 15361"/>
          <p:cNvSpPr/>
          <p:nvPr/>
        </p:nvSpPr>
        <p:spPr>
          <a:xfrm>
            <a:off x="347472" y="1005840"/>
            <a:ext cx="5623560" cy="1517904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347472" y="1005840"/>
            <a:ext cx="5623560" cy="151790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B6FA4"/>
                </a:solidFill>
                <a:latin typeface="Arial"/>
              </a:rPr>
              <a:t>STEP-TEST DESIGN AND RESULTS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8-level open-loop step test on our simulator, 20 → 70 % choke, both directions, each level held 40–55 h (3–4 τ) so the slowest variable settles.</a:t>
            </a:r>
          </a:p>
          <a:p>
            <a:pPr>
              <a:spcAft>
                <a:spcPts val="200"/>
              </a:spcAft>
            </a:pPr>
            <a:r>
              <a:rPr sz="960" b="1" i="0">
                <a:solidFill>
                  <a:srgbClr val="0B2E4A"/>
                </a:solidFill>
                <a:latin typeface="Arial"/>
              </a:rPr>
              <a:t>Opening the choke  →  Q ↑   and   WHP ↓, FLP ↓, BHP ↓ .  The oil-rate gain falls 2.33 → 1.40 bbl/hr per % across the tested range, and every output has its own time constant — a single linear model would not do.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Dead time was FITTED, not assumed: θ was left free in [0, 5] h and converged to 0.00 h. A 1 h interval is far slower than this well's transport delays, so no delay compensation is needed.</a:t>
            </a:r>
          </a:p>
        </p:txBody>
      </p:sp>
      <p:graphicFrame>
        <p:nvGraphicFramePr>
          <p:cNvPr id="15364" name="Table 15363"/>
          <p:cNvGraphicFramePr>
            <a:graphicFrameLocks noGrp="1"/>
          </p:cNvGraphicFramePr>
          <p:nvPr/>
        </p:nvGraphicFramePr>
        <p:xfrm>
          <a:off x="347472" y="2596896"/>
          <a:ext cx="5623559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1572768"/>
                <a:gridCol w="658368"/>
                <a:gridCol w="1042415"/>
                <a:gridCol w="1051560"/>
              </a:tblGrid>
              <a:tr h="27066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45720" marR="36576" marT="18288" marB="18288" anchor="ctr">
                    <a:solidFill>
                      <a:srgbClr val="0B6F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Static gain at 50 %</a:t>
                      </a:r>
                    </a:p>
                  </a:txBody>
                  <a:tcPr marL="45720" marR="36576" marT="18288" marB="18288" anchor="ctr">
                    <a:solidFill>
                      <a:srgbClr val="0B6F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τ  [h]</a:t>
                      </a:r>
                    </a:p>
                  </a:txBody>
                  <a:tcPr marL="45720" marR="36576" marT="18288" marB="18288" anchor="ctr">
                    <a:solidFill>
                      <a:srgbClr val="0B6F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R²  (own data)</a:t>
                      </a:r>
                    </a:p>
                  </a:txBody>
                  <a:tcPr marL="45720" marR="36576" marT="18288" marB="18288" anchor="ctr">
                    <a:solidFill>
                      <a:srgbClr val="0B6F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R²  (reference)</a:t>
                      </a:r>
                    </a:p>
                  </a:txBody>
                  <a:tcPr marL="45720" marR="36576" marT="18288" marB="18288" anchor="ctr">
                    <a:solidFill>
                      <a:srgbClr val="0B6FA4"/>
                    </a:solidFill>
                  </a:tcPr>
                </a:tc>
              </a:tr>
              <a:tr h="27066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Oil rate Q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+1.77 bbl/hr per %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0.989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</a:tr>
              <a:tr h="27066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WHP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−1.60 psi per 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8.6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0.983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27066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FLP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−0.97 psi per %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0.993</a:t>
                      </a:r>
                    </a:p>
                  </a:txBody>
                  <a:tcPr marL="45720" marR="36576" marT="18288" marB="18288" anchor="ctr">
                    <a:solidFill>
                      <a:srgbClr val="F6F9FC"/>
                    </a:solidFill>
                  </a:tcPr>
                </a:tc>
              </a:tr>
              <a:tr h="2706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BHP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−7.66 psi per 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12.4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0.989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65" name="Rectangle 15364"/>
          <p:cNvSpPr/>
          <p:nvPr/>
        </p:nvSpPr>
        <p:spPr>
          <a:xfrm>
            <a:off x="347472" y="4041648"/>
            <a:ext cx="5623560" cy="1572768"/>
          </a:xfrm>
          <a:prstGeom prst="rect">
            <a:avLst/>
          </a:prstGeom>
          <a:solidFill>
            <a:srgbClr val="F6F2FA"/>
          </a:solidFill>
          <a:ln w="158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347472" y="4041648"/>
            <a:ext cx="5623560" cy="157276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6A1B9A"/>
                </a:solidFill>
                <a:latin typeface="Arial"/>
              </a:rPr>
              <a:t>DYNAMIC MODEL DEVELOPED  —  Hammerstein</a:t>
            </a:r>
          </a:p>
          <a:p>
            <a:pPr>
              <a:spcAft>
                <a:spcPts val="200"/>
              </a:spcAft>
            </a:pPr>
            <a:r>
              <a:rPr sz="1200" b="1" i="0">
                <a:solidFill>
                  <a:srgbClr val="0B2E4A"/>
                </a:solidFill>
                <a:latin typeface="Arial"/>
              </a:rPr>
              <a:t>Static nonlinearity:      y_ss(u) = a₀ + a₁·u + a₂·u²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0B2E4A"/>
                </a:solidFill>
                <a:latin typeface="Arial"/>
              </a:rPr>
              <a:t>Linear dynamics:          τ_y · dy/dt = y_ss(u(t−θ)) − y</a:t>
            </a:r>
          </a:p>
          <a:p>
            <a:pPr>
              <a:spcAft>
                <a:spcPts val="0"/>
              </a:spcAft>
            </a:pPr>
            <a:r>
              <a:rPr sz="940" b="0" i="0">
                <a:solidFill>
                  <a:srgbClr val="555555"/>
                </a:solidFill>
                <a:latin typeface="Arial"/>
              </a:rPr>
              <a:t>Fitted per output by nonlinear least squares on the FREE-RUN simulation error (not one-step-ahead) — the honest test for a model an MPC uses for 40-step prediction.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6144768" y="987552"/>
            <a:ext cx="5687568" cy="1682496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6144768" y="987552"/>
            <a:ext cx="5687568" cy="168249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E8820C"/>
                </a:solidFill>
                <a:latin typeface="Arial"/>
              </a:rPr>
              <a:t>MODEL ASSUMPTIONS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A1A1A"/>
                </a:solidFill>
                <a:latin typeface="Arial"/>
              </a:rPr>
              <a:t>▸  </a:t>
            </a:r>
            <a:r>
              <a:rPr sz="850" b="0" i="0">
                <a:solidFill>
                  <a:srgbClr val="1A1A1A"/>
                </a:solidFill>
                <a:latin typeface="Arial"/>
              </a:rPr>
              <a:t>Single naturally flowing well, single production choke; no gas lift, no ESP.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A1A1A"/>
                </a:solidFill>
                <a:latin typeface="Arial"/>
              </a:rPr>
              <a:t>▸  </a:t>
            </a:r>
            <a:r>
              <a:rPr sz="850" b="0" i="0">
                <a:solidFill>
                  <a:srgbClr val="1A1A1A"/>
                </a:solidFill>
                <a:latin typeface="Arial"/>
              </a:rPr>
              <a:t>Constant reservoir properties, constant GOR and water cut.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A1A1A"/>
                </a:solidFill>
                <a:latin typeface="Arial"/>
              </a:rPr>
              <a:t>▸  </a:t>
            </a:r>
            <a:r>
              <a:rPr sz="850" b="0" i="0">
                <a:solidFill>
                  <a:srgbClr val="1A1A1A"/>
                </a:solidFill>
                <a:latin typeface="Arial"/>
              </a:rPr>
              <a:t>No facility-network interaction — manifold is a calibrated back-pressure boundary.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A1A1A"/>
                </a:solidFill>
                <a:latin typeface="Arial"/>
              </a:rPr>
              <a:t>▸  </a:t>
            </a:r>
            <a:r>
              <a:rPr sz="850" b="0" i="0">
                <a:solidFill>
                  <a:srgbClr val="1A1A1A"/>
                </a:solidFill>
                <a:latin typeface="Arial"/>
              </a:rPr>
              <a:t>Choke opening u [%] is the only manipulated variable;  Ts = 1 h.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A1A1A"/>
                </a:solidFill>
                <a:latin typeface="Arial"/>
              </a:rPr>
              <a:t>▸  </a:t>
            </a:r>
            <a:r>
              <a:rPr sz="850" b="0" i="0">
                <a:solidFill>
                  <a:srgbClr val="1A1A1A"/>
                </a:solidFill>
                <a:latin typeface="Arial"/>
              </a:rPr>
              <a:t>WHT and annulus pressure are MONITORED, not constrained — and they move the OPPOSITE way to WHP/FLP/BHP as the choke opens.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A1A1A"/>
                </a:solidFill>
                <a:latin typeface="Arial"/>
              </a:rPr>
              <a:t>▸  </a:t>
            </a:r>
            <a:r>
              <a:rPr sz="850" b="0" i="0">
                <a:solidFill>
                  <a:srgbClr val="1A1A1A"/>
                </a:solidFill>
                <a:latin typeface="Arial"/>
              </a:rPr>
              <a:t>If annulus pressure had a limit below ~318 psi it would bind before BHP: at 300 psi the max safe rate falls 166 → 144 bbl/hr.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1A1A1A"/>
                </a:solidFill>
                <a:latin typeface="Arial"/>
              </a:rPr>
              <a:t>▸  </a:t>
            </a:r>
            <a:r>
              <a:rPr sz="850" b="0" i="0">
                <a:solidFill>
                  <a:srgbClr val="1A1A1A"/>
                </a:solidFill>
                <a:latin typeface="Arial"/>
              </a:rPr>
              <a:t>EXTRAPOLATION: reference data spans choke 30–65 %, the envelope runs 15.5–70.65 %. The max safe rate sits only 5.65 pp beyond calibration.</a:t>
            </a:r>
          </a:p>
        </p:txBody>
      </p:sp>
      <p:pic>
        <p:nvPicPr>
          <p:cNvPr id="15369" name="Picture 15368" descr="mode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743200"/>
            <a:ext cx="5687568" cy="3095806"/>
          </a:xfrm>
          <a:prstGeom prst="rect">
            <a:avLst/>
          </a:prstGeom>
        </p:spPr>
      </p:pic>
      <p:sp>
        <p:nvSpPr>
          <p:cNvPr id="15370" name="Rectangle 15369"/>
          <p:cNvSpPr/>
          <p:nvPr/>
        </p:nvSpPr>
        <p:spPr>
          <a:xfrm>
            <a:off x="6144768" y="5870448"/>
            <a:ext cx="5687568" cy="31089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6144768" y="5870448"/>
            <a:ext cx="5687568" cy="310896"/>
          </a:xfrm>
          <a:prstGeom prst="rect">
            <a:avLst/>
          </a:prstGeom>
          <a:noFill/>
        </p:spPr>
        <p:txBody>
          <a:bodyPr wrap="square" lIns="100584" rIns="100584" tIns="54864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Identified on our own step tests · free-run against the Honeywell reference data it has never seen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347472" y="5687568"/>
            <a:ext cx="5623560" cy="1060704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347472" y="5687568"/>
            <a:ext cx="5623560" cy="106070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200"/>
              </a:spcAft>
            </a:pPr>
            <a:r>
              <a:rPr sz="930" b="1" i="0">
                <a:solidFill>
                  <a:srgbClr val="2E7D32"/>
                </a:solidFill>
                <a:latin typeface="Arial"/>
              </a:rPr>
              <a:t>THE SIMULATOR IS OUR OWN — AND THAT WAS THE ASSIGNMENT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HirePro confirmed in writing that no simulator would be provided, that any open-source equivalent may be used, and that the line in the problem statement should be ignored. Ours is built from first principles and calibrated to the supplied reference data — full source in src/simulator.py.</a:t>
            </a:r>
          </a:p>
          <a:p>
            <a:pPr>
              <a:spcAft>
                <a:spcPts val="0"/>
              </a:spcAft>
            </a:pPr>
            <a:r>
              <a:rPr sz="800" b="0" i="0">
                <a:solidFill>
                  <a:srgbClr val="1A1A1A"/>
                </a:solidFill>
                <a:latin typeface="Arial"/>
              </a:rPr>
              <a:t>The safe operating limits were never specified either. Ours are documented placeholders, all six in config/operating_limits.json — a six-number edit, no code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RESULTS  —  SCENARIO OUTCOMES &amp; PERFORMANCE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2" name="Picture 15361" descr="resul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9264"/>
            <a:ext cx="7589520" cy="3211368"/>
          </a:xfrm>
          <a:prstGeom prst="rect">
            <a:avLst/>
          </a:prstGeom>
        </p:spPr>
      </p:pic>
      <p:graphicFrame>
        <p:nvGraphicFramePr>
          <p:cNvPr id="15363" name="Table 15362"/>
          <p:cNvGraphicFramePr>
            <a:graphicFrameLocks noGrp="1"/>
          </p:cNvGraphicFramePr>
          <p:nvPr/>
        </p:nvGraphicFramePr>
        <p:xfrm>
          <a:off x="365760" y="4206240"/>
          <a:ext cx="7589520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773936"/>
                <a:gridCol w="1956816"/>
                <a:gridCol w="2011680"/>
              </a:tblGrid>
              <a:tr h="231647">
                <a:tc>
                  <a:txBody>
                    <a:bodyPr/>
                    <a:lstStyle/>
                    <a:p>
                      <a:pPr algn="l"/>
                    </a:p>
                  </a:txBody>
                  <a:tcPr marL="45720" marR="36576" marT="9144" marB="9144" anchor="ctr">
                    <a:solidFill>
                      <a:srgbClr val="0B6F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A — Start-up</a:t>
                      </a:r>
                    </a:p>
                  </a:txBody>
                  <a:tcPr marL="45720" marR="36576" marT="9144" marB="9144" anchor="ctr">
                    <a:solidFill>
                      <a:srgbClr val="0B6F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B — Target change</a:t>
                      </a:r>
                    </a:p>
                  </a:txBody>
                  <a:tcPr marL="45720" marR="36576" marT="9144" marB="9144" anchor="ctr">
                    <a:solidFill>
                      <a:srgbClr val="0B6F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C — Infeasible</a:t>
                      </a:r>
                    </a:p>
                  </a:txBody>
                  <a:tcPr marL="45720" marR="36576" marT="9144" marB="9144" anchor="ctr">
                    <a:solidFill>
                      <a:srgbClr val="0B6FA4"/>
                    </a:solidFill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</a:rPr>
                        <a:t>Requested target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100 bbl/hr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100 → 150 bbl/hr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120 → 200 bbl/hr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</a:rPr>
                        <a:t>Achievable (SSTO)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100.0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165.2  (capped)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</a:rPr>
                        <a:t>Achieved rate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100.2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150.2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164.9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</a:rPr>
                        <a:t>Steady-state offset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+0.23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+0.17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-0.29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</a:rPr>
                        <a:t>Settling time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14 h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16 h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16 h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</a:rPr>
                        <a:t>Constraint violations</a:t>
                      </a:r>
                    </a:p>
                  </a:txBody>
                  <a:tcPr marL="45720" marR="36576" marT="9144" marB="9144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2E7D3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36576" marT="9144" marB="9144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2E7D3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36576" marT="9144" marB="9144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2E7D3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36576" marT="9144" marB="9144" anchor="ctr">
                    <a:solidFill>
                      <a:srgbClr val="ECF6EC"/>
                    </a:solidFill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</a:rPr>
                        <a:t>Max choke move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5.00 %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5.00 %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5.00 %</a:t>
                      </a:r>
                    </a:p>
                  </a:txBody>
                  <a:tcPr marL="45720" marR="36576" marT="9144" marB="9144" anchor="ctr">
                    <a:solidFill>
                      <a:srgbClr val="F6F9FC"/>
                    </a:solidFill>
                  </a:tcPr>
                </a:tc>
              </a:tr>
              <a:tr h="231655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</a:rPr>
                        <a:t>Controller mode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TRACKING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TRACKING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</a:rPr>
                        <a:t>TRACKING→CONSTRAINED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64" name="Rectangle 15363"/>
          <p:cNvSpPr/>
          <p:nvPr/>
        </p:nvSpPr>
        <p:spPr>
          <a:xfrm>
            <a:off x="8138160" y="969264"/>
            <a:ext cx="3703320" cy="1572768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8138160" y="969264"/>
            <a:ext cx="3703320" cy="157276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B6FA4"/>
                </a:solidFill>
                <a:latin typeface="Arial"/>
              </a:rPr>
              <a:t>TRACKING PERFORMANCE</a:t>
            </a:r>
          </a:p>
          <a:p>
            <a:pPr>
              <a:spcAft>
                <a:spcPts val="400"/>
              </a:spcAft>
            </a:pPr>
            <a:r>
              <a:rPr sz="960" b="1">
                <a:solidFill>
                  <a:srgbClr val="1A1A1A"/>
                </a:solidFill>
                <a:latin typeface="Arial"/>
              </a:rPr>
              <a:t>▸  </a:t>
            </a:r>
            <a:r>
              <a:rPr sz="960" b="0" i="0">
                <a:solidFill>
                  <a:srgbClr val="1A1A1A"/>
                </a:solidFill>
                <a:latin typeface="Arial"/>
              </a:rPr>
              <a:t>Zero steady-state offset in A and B — the disturbance estimator removes model mismatch.</a:t>
            </a:r>
          </a:p>
          <a:p>
            <a:pPr>
              <a:spcAft>
                <a:spcPts val="400"/>
              </a:spcAft>
            </a:pPr>
            <a:r>
              <a:rPr sz="960" b="1">
                <a:solidFill>
                  <a:srgbClr val="1A1A1A"/>
                </a:solidFill>
                <a:latin typeface="Arial"/>
              </a:rPr>
              <a:t>▸  </a:t>
            </a:r>
            <a:r>
              <a:rPr sz="960" b="0" i="0">
                <a:solidFill>
                  <a:srgbClr val="1A1A1A"/>
                </a:solidFill>
                <a:latin typeface="Arial"/>
              </a:rPr>
              <a:t>14–16 h settling (≈ 3 τ_Q) with no overshoot past any limit.</a:t>
            </a:r>
          </a:p>
          <a:p>
            <a:pPr>
              <a:spcAft>
                <a:spcPts val="400"/>
              </a:spcAft>
            </a:pPr>
            <a:r>
              <a:rPr sz="960" b="1">
                <a:solidFill>
                  <a:srgbClr val="1A1A1A"/>
                </a:solidFill>
                <a:latin typeface="Arial"/>
              </a:rPr>
              <a:t>▸  </a:t>
            </a:r>
            <a:r>
              <a:rPr sz="960" b="0" i="0">
                <a:solidFill>
                  <a:srgbClr val="1A1A1A"/>
                </a:solidFill>
                <a:latin typeface="Arial"/>
              </a:rPr>
              <a:t>Total choke travel is small: mean move &lt; 0.4 %/interval once on target — gentle on the actuator.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8138160" y="2615184"/>
            <a:ext cx="3703320" cy="1920240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8138160" y="2615184"/>
            <a:ext cx="3703320" cy="1920240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2E7D32"/>
                </a:solidFill>
                <a:latin typeface="Arial"/>
              </a:rPr>
              <a:t>SAFETY PERFORMANCE</a:t>
            </a:r>
          </a:p>
          <a:p>
            <a:pPr>
              <a:spcAft>
                <a:spcPts val="3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0 violations / 30 runs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A1A1A"/>
                </a:solidFill>
                <a:latin typeface="Arial"/>
              </a:rPr>
              <a:t>▸  </a:t>
            </a:r>
            <a:r>
              <a:rPr sz="960" b="0" i="0">
                <a:solidFill>
                  <a:srgbClr val="1A1A1A"/>
                </a:solidFill>
                <a:latin typeface="Arial"/>
              </a:rPr>
              <a:t>3 scenarios × 10 independent measurement-noise realisations.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A1A1A"/>
                </a:solidFill>
                <a:latin typeface="Arial"/>
              </a:rPr>
              <a:t>▸  </a:t>
            </a:r>
            <a:r>
              <a:rPr sz="960" b="0" i="0">
                <a:solidFill>
                  <a:srgbClr val="1A1A1A"/>
                </a:solidFill>
                <a:latin typeface="Arial"/>
              </a:rPr>
              <a:t>Audited on the noise-free plant state, not just the measurement.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A1A1A"/>
                </a:solidFill>
                <a:latin typeface="Arial"/>
              </a:rPr>
              <a:t>▸  </a:t>
            </a:r>
            <a:r>
              <a:rPr sz="960" b="0" i="0">
                <a:solidFill>
                  <a:srgbClr val="1A1A1A"/>
                </a:solidFill>
                <a:latin typeface="Arial"/>
              </a:rPr>
              <a:t>Every choke move inside the ±5 %/interval ramp limit, in every run.</a:t>
            </a:r>
          </a:p>
          <a:p>
            <a:pPr>
              <a:spcAft>
                <a:spcPts val="300"/>
              </a:spcAft>
            </a:pPr>
            <a:r>
              <a:rPr sz="960" b="1">
                <a:solidFill>
                  <a:srgbClr val="1A1A1A"/>
                </a:solidFill>
                <a:latin typeface="Arial"/>
              </a:rPr>
              <a:t>▸  </a:t>
            </a:r>
            <a:r>
              <a:rPr sz="960" b="0" i="0">
                <a:solidFill>
                  <a:srgbClr val="1A1A1A"/>
                </a:solidFill>
                <a:latin typeface="Arial"/>
              </a:rPr>
              <a:t>Scenario A is audited from the very first interval — no warm-up period is excluded.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8138160" y="4626864"/>
            <a:ext cx="3703320" cy="1664208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8138160" y="4626864"/>
            <a:ext cx="3703320" cy="166420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E8820C"/>
                </a:solidFill>
                <a:latin typeface="Arial"/>
              </a:rPr>
              <a:t>THE INFEASIBLE-TARGET RESULT</a:t>
            </a:r>
          </a:p>
          <a:p>
            <a:pPr>
              <a:spcAft>
                <a:spcPts val="400"/>
              </a:spcAft>
            </a:pPr>
            <a:r>
              <a:rPr sz="980" b="0" i="0">
                <a:solidFill>
                  <a:srgbClr val="1A1A1A"/>
                </a:solidFill>
                <a:latin typeface="Arial"/>
              </a:rPr>
              <a:t>200 bbl/hr is physically unreachable: the minimum-BHP (maximum-drawdown) limit caps the well at 166.2 bbl/hr.</a:t>
            </a:r>
          </a:p>
          <a:p>
            <a:pPr>
              <a:spcAft>
                <a:spcPts val="0"/>
              </a:spcAft>
            </a:pPr>
            <a:r>
              <a:rPr sz="980" b="1" i="0">
                <a:solidFill>
                  <a:srgbClr val="0B2E4A"/>
                </a:solidFill>
                <a:latin typeface="Arial"/>
              </a:rPr>
              <a:t>The controller settles at 164.9 bbl/hr — 99.2 % of the theoretical maximum — reports mode = CONSTRAINED with BHP_min as the active constraint, and never winds up against the limit.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RESULTS  —  BETTER THAN WHAT?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2" name="Picture 15361" descr="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932688"/>
            <a:ext cx="11539728" cy="4214462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329184" y="4901184"/>
            <a:ext cx="3721608" cy="1444752"/>
          </a:xfrm>
          <a:prstGeom prst="rect">
            <a:avLst/>
          </a:prstGeom>
          <a:solidFill>
            <a:srgbClr val="FDF0F0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9184" y="4901184"/>
            <a:ext cx="3721608" cy="1444752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 i="0">
                <a:solidFill>
                  <a:srgbClr val="C62828"/>
                </a:solidFill>
                <a:latin typeface="Arial"/>
              </a:rPr>
              <a:t>PI ON RATE  (IMC-tuned, anti-windup)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C62828"/>
                </a:solidFill>
                <a:latin typeface="Arial"/>
              </a:rPr>
              <a:t>97 of 140 intervals violate a limit</a:t>
            </a:r>
          </a:p>
          <a:p>
            <a:pPr>
              <a:spcAft>
                <a:spcPts val="3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Reaches 200 bbl/hr — by driving BHP 146 psi below its floor.</a:t>
            </a:r>
          </a:p>
          <a:p>
            <a:pPr>
              <a:spcAft>
                <a:spcPts val="3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Not a tuning failure: a single rate loop structurally cannot see a pressure constraint.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4187952" y="4901184"/>
            <a:ext cx="3721608" cy="1444752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4187952" y="4901184"/>
            <a:ext cx="3721608" cy="1444752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 i="0">
                <a:solidFill>
                  <a:srgbClr val="E8820C"/>
                </a:solidFill>
                <a:latin typeface="Arial"/>
              </a:rPr>
              <a:t>OPERATOR RULE  (fixed safe choke)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E8820C"/>
                </a:solidFill>
                <a:latin typeface="Arial"/>
              </a:rPr>
              <a:t>Safe — 0 violations — but 5.6 % short</a:t>
            </a:r>
          </a:p>
          <a:p>
            <a:pPr>
              <a:spcAft>
                <a:spcPts val="3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Settles at 156.1 bbl/hr where 164.9 was safely available.</a:t>
            </a:r>
          </a:p>
          <a:p>
            <a:pPr>
              <a:spcAft>
                <a:spcPts val="3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Caution is not free: it is 8.8 bbl/hr of production, every hour.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8046720" y="4901184"/>
            <a:ext cx="3721608" cy="1444752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8046720" y="4901184"/>
            <a:ext cx="3721608" cy="1444752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MPC  (this work)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2E7D32"/>
                </a:solidFill>
                <a:latin typeface="Arial"/>
              </a:rPr>
              <a:t>0 violations AND the highest safe rate</a:t>
            </a:r>
          </a:p>
          <a:p>
            <a:pPr>
              <a:spcAft>
                <a:spcPts val="3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164.9 bbl/hr, 99.2 % of the theoretical maximum.</a:t>
            </a:r>
          </a:p>
          <a:p>
            <a:pPr>
              <a:spcAft>
                <a:spcPts val="3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A third of the PI's total choke travel — far gentler on the actuator.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29184" y="6400800"/>
            <a:ext cx="11539728" cy="32918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0"/>
              </a:spcAft>
            </a:pPr>
            <a:r>
              <a:rPr sz="980" b="1" i="0">
                <a:solidFill>
                  <a:srgbClr val="0B2E4A"/>
                </a:solidFill>
                <a:latin typeface="Arial"/>
              </a:rPr>
              <a:t>Scenarios A and B are honest about this: when the target sits comfortably inside the envelope, all three controllers work. The architectures only separate when a constraint actually binds — which is precisely when it matters.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RESULTS  —  ROBUSTNESS AND WHERE IT BREAKS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2" name="Picture 15361" descr="montecarlo_mis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969264"/>
            <a:ext cx="7818120" cy="2279827"/>
          </a:xfrm>
          <a:prstGeom prst="rect">
            <a:avLst/>
          </a:prstGeom>
        </p:spPr>
      </p:pic>
      <p:pic>
        <p:nvPicPr>
          <p:cNvPr id="15363" name="Picture 15362" descr="breaking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3712463"/>
            <a:ext cx="7818120" cy="2111222"/>
          </a:xfrm>
          <a:prstGeom prst="rect">
            <a:avLst/>
          </a:prstGeom>
        </p:spPr>
      </p:pic>
      <p:sp>
        <p:nvSpPr>
          <p:cNvPr id="15364" name="Rectangle 15363"/>
          <p:cNvSpPr/>
          <p:nvPr/>
        </p:nvSpPr>
        <p:spPr>
          <a:xfrm>
            <a:off x="8321040" y="969264"/>
            <a:ext cx="3538728" cy="2487168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8321040" y="969264"/>
            <a:ext cx="3538728" cy="248716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0B6FA4"/>
                </a:solidFill>
                <a:latin typeface="Arial"/>
              </a:rPr>
              <a:t>MODEL DELIBERATELY CORRUPTED</a:t>
            </a:r>
          </a:p>
          <a:p>
            <a:pPr>
              <a:spcAft>
                <a:spcPts val="5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150 randomised models per scenario: incremental gain × U(0.7, 1.3) and τ × U(0.5, 1.5), independently per output channel — far worse than any real re-identification would leave.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2E7D32"/>
                </a:solidFill>
                <a:latin typeface="Arial"/>
              </a:rPr>
              <a:t>Scenario B:  0 / 150 violate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E8820C"/>
                </a:solidFill>
                <a:latin typeface="Arial"/>
              </a:rPr>
              <a:t>Scenario C:  7 / 150 (4.7 %) violate,
worst excursion 1.16 psi on a 2850 psi limit (0.04 %)</a:t>
            </a:r>
          </a:p>
          <a:p>
            <a:pPr>
              <a:spcAft>
                <a:spcPts val="0"/>
              </a:spcAft>
            </a:pPr>
            <a:r>
              <a:rPr sz="930" b="0" i="1">
                <a:solidFill>
                  <a:srgbClr val="555555"/>
                </a:solidFill>
                <a:latin typeface="Arial"/>
              </a:rPr>
              <a:t>We report this rather than hide it — and the failures are not random.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8321040" y="3584448"/>
            <a:ext cx="3538728" cy="1572768"/>
          </a:xfrm>
          <a:prstGeom prst="rect">
            <a:avLst/>
          </a:prstGeom>
          <a:solidFill>
            <a:srgbClr val="F6F2FA"/>
          </a:solidFill>
          <a:ln w="158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8321040" y="3584448"/>
            <a:ext cx="3538728" cy="157276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A1B9A"/>
                </a:solidFill>
                <a:latin typeface="Arial"/>
              </a:rPr>
              <a:t>EVERY FAILURE HAS ONE SIGNATURE</a:t>
            </a:r>
          </a:p>
          <a:p>
            <a:pPr>
              <a:spcAft>
                <a:spcPts val="4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τ_BHP under-estimated (factor &lt; 0.69): the controller believes bottom-hole pressure settles faster than it does, so it stops backing off while the pressure is still falling. Gain error alone never causes a failure.</a:t>
            </a:r>
          </a:p>
          <a:p>
            <a:pPr>
              <a:spcAft>
                <a:spcPts val="0"/>
              </a:spcAft>
            </a:pPr>
            <a:r>
              <a:rPr sz="930" b="1" i="0">
                <a:solidFill>
                  <a:srgbClr val="0B2E4A"/>
                </a:solidFill>
                <a:latin typeface="Arial"/>
              </a:rPr>
              <a:t>Targeted fix — bias the identified τ of the slowest constrained variable up 50 % → 0 / 60 violations for ~0.9 bbl/hr. A blind 12 psi back-off buys the same result for 3.9 bbl/hr.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8321040" y="5285232"/>
            <a:ext cx="3538728" cy="1481328"/>
          </a:xfrm>
          <a:prstGeom prst="rect">
            <a:avLst/>
          </a:prstGeom>
          <a:solidFill>
            <a:srgbClr val="FDF0F0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8321040" y="5285232"/>
            <a:ext cx="3538728" cy="1481328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C62828"/>
                </a:solidFill>
                <a:latin typeface="Arial"/>
              </a:rPr>
              <a:t>WHERE IT ACTUALLY BREAKS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Constraint back-off 0 psi → 13 violating intervals. Any back-off ≥ 1 psi is enough.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Measurement noise: safe to 8× nominal, fails at 12×.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Prediction horizon 5–50 h and ramp limit 0.5–10 %: safe throughout.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1A1A1A"/>
                </a:solidFill>
                <a:latin typeface="Arial"/>
              </a:rPr>
              <a:t>▸  </a:t>
            </a:r>
            <a:r>
              <a:rPr sz="900" b="0" i="0">
                <a:solidFill>
                  <a:srgbClr val="1A1A1A"/>
                </a:solidFill>
                <a:latin typeface="Arial"/>
              </a:rPr>
              <a:t>A design never pushed to failure has not been characterised.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RESULTS  —  BREAKING OUR OWN ASSUMPTIONS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2" name="Picture 15361" descr="stress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914400"/>
            <a:ext cx="11539728" cy="4119481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329184" y="4754880"/>
            <a:ext cx="2834640" cy="1682496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9184" y="4754880"/>
            <a:ext cx="2834640" cy="168249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2E7D32"/>
                </a:solidFill>
                <a:latin typeface="Arial"/>
              </a:rPr>
              <a:t>D1 · RESERVOIR DECLINE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48 psi of depletion that is never modelled. The controller opens the choke 47 % → 61 % to hold 130 bbl/hr.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When the well genuinely can no longer make 130, it switches to CONSTRAINED and settles on the true declining capacity — within 0.6 bbl/hr of it.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0 violations.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3227832" y="4754880"/>
            <a:ext cx="2834640" cy="1682496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3227832" y="4754880"/>
            <a:ext cx="2834640" cy="168249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2E7D32"/>
                </a:solidFill>
                <a:latin typeface="Arial"/>
              </a:rPr>
              <a:t>D2 · WATER-CUT STEP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Water cut steps 0 → 12 %; oil rate drops instantly.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The output-disturbance estimator absorbs it and the controller recovers 120 bbl/hr with zero steady-state error.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0 violations.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6126480" y="4754880"/>
            <a:ext cx="2834640" cy="1682496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6126480" y="4754880"/>
            <a:ext cx="2834640" cy="168249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20C"/>
                </a:solidFill>
                <a:latin typeface="Arial"/>
              </a:rPr>
              <a:t>F1 / F4 · INSTRUMENT FAULTS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Frozen BHP transmitter: detected in 5 intervals, choke frozen for 43, 0 violations. Validation OFF: 5 violating intervals.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IO card fails (BHP +220, WHP +45 psi): validation OFF over-produces to 170.6 bbl/hr and drives BHP 18.9 psi below its limit for 64 intervals. Validation ON: 0 violations.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9025128" y="4754880"/>
            <a:ext cx="2834640" cy="1682496"/>
          </a:xfrm>
          <a:prstGeom prst="rect">
            <a:avLst/>
          </a:prstGeom>
          <a:solidFill>
            <a:srgbClr val="F6F2FA"/>
          </a:solidFill>
          <a:ln w="158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9025128" y="4754880"/>
            <a:ext cx="2834640" cy="168249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6A1B9A"/>
                </a:solidFill>
                <a:latin typeface="Arial"/>
              </a:rPr>
              <a:t>AN UNPLANNED FINDING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Corrupting BHP alone did far less damage than we expected.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At the maximum safe point BHP has 0.3 psi of margin — but WHP has only 5.4 psi. The WHP constraint, computed from a healthy transmitter, stops the controller almost immediately.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1A1A1A"/>
                </a:solidFill>
                <a:latin typeface="Arial"/>
              </a:rPr>
              <a:t>▸  </a:t>
            </a:r>
            <a:r>
              <a:rPr sz="860" b="0" i="0">
                <a:solidFill>
                  <a:srgbClr val="1A1A1A"/>
                </a:solidFill>
                <a:latin typeface="Arial"/>
              </a:rPr>
              <a:t>That constraint redundancy is a real safety property — and it means a fault study injecting only single-tag faults overstates how safe the system is.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29184" y="6455664"/>
            <a:ext cx="11539728" cy="31089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0"/>
              </a:spcAft>
            </a:pPr>
            <a:r>
              <a:rPr sz="980" b="1" i="0">
                <a:solidFill>
                  <a:srgbClr val="0B2E4A"/>
                </a:solidFill>
                <a:latin typeface="Arial"/>
              </a:rPr>
              <a:t>The problem statement says to assume constant reservoir properties, no changing water cut, and healthy instrumentation. All three are false on a real well — so we broke them deliberately and measured what happened.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RESULTS  —  DO OUR ASSUMED LIMITS MATTER?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2" name="Picture 15361" descr="limi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024128"/>
            <a:ext cx="11539728" cy="3451639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329184" y="4700016"/>
            <a:ext cx="3721608" cy="1700784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9184" y="4700016"/>
            <a:ext cx="3721608" cy="170078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 i="0">
                <a:solidFill>
                  <a:srgbClr val="E8820C"/>
                </a:solidFill>
                <a:latin typeface="Arial"/>
              </a:rPr>
              <a:t>THE PROBLEM WITH OUR OWN NUMBERS</a:t>
            </a:r>
          </a:p>
          <a:p>
            <a:pPr>
              <a:spcAft>
                <a:spcPts val="300"/>
              </a:spcAft>
            </a:pPr>
            <a:r>
              <a:rPr sz="890" b="0" i="0">
                <a:solidFill>
                  <a:srgbClr val="1A1A1A"/>
                </a:solidFill>
                <a:latin typeface="Arial"/>
              </a:rPr>
              <a:t>The safe ranges are never given in the brief, and the organisers did not supply them.</a:t>
            </a:r>
          </a:p>
          <a:p>
            <a:pPr>
              <a:spcAft>
                <a:spcPts val="300"/>
              </a:spcAft>
            </a:pPr>
            <a:r>
              <a:rPr sz="890" b="0" i="0">
                <a:solidFill>
                  <a:srgbClr val="1A1A1A"/>
                </a:solidFill>
                <a:latin typeface="Arial"/>
              </a:rPr>
              <a:t>Ours are documented engineering placeholders — the weakest point in the submission.</a:t>
            </a:r>
          </a:p>
          <a:p>
            <a:pPr>
              <a:spcAft>
                <a:spcPts val="300"/>
              </a:spcAft>
            </a:pPr>
            <a:r>
              <a:rPr sz="960" b="1" i="0">
                <a:solidFill>
                  <a:srgbClr val="E8820C"/>
                </a:solidFill>
                <a:latin typeface="Arial"/>
              </a:rPr>
              <a:t>So rather than defend six numbers, we tested whether they matter at all.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4187952" y="4700016"/>
            <a:ext cx="3721608" cy="1700784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4187952" y="4700016"/>
            <a:ext cx="3721608" cy="170078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 i="0">
                <a:solidFill>
                  <a:srgbClr val="2E7D32"/>
                </a:solidFill>
                <a:latin typeface="Arial"/>
              </a:rPr>
              <a:t>200 RANDOMISED ENVELOPES</a:t>
            </a:r>
          </a:p>
          <a:p>
            <a:pPr>
              <a:spcAft>
                <a:spcPts val="300"/>
              </a:spcAft>
            </a:pPr>
            <a:r>
              <a:rPr sz="960" b="1" i="0">
                <a:solidFill>
                  <a:srgbClr val="2E7D32"/>
                </a:solidFill>
                <a:latin typeface="Arial"/>
              </a:rPr>
              <a:t>0 of 200 violate a limit</a:t>
            </a:r>
          </a:p>
          <a:p>
            <a:pPr>
              <a:spcAft>
                <a:spcPts val="300"/>
              </a:spcAft>
            </a:pPr>
            <a:r>
              <a:rPr sz="890" b="0" i="0">
                <a:solidFill>
                  <a:srgbClr val="1A1A1A"/>
                </a:solidFill>
                <a:latin typeface="Arial"/>
              </a:rPr>
              <a:t>Max safe rate ranged 136 – 181 bbl/hr; the controller reached 96.9 % of each envelope's OWN ceiling.</a:t>
            </a:r>
          </a:p>
          <a:p>
            <a:pPr>
              <a:spcAft>
                <a:spcPts val="300"/>
              </a:spcAft>
            </a:pPr>
            <a:r>
              <a:rPr sz="890" b="0" i="0">
                <a:solidFill>
                  <a:srgbClr val="1A1A1A"/>
                </a:solidFill>
                <a:latin typeface="Arial"/>
              </a:rPr>
              <a:t>The binding limit shifted: WHP 54 %, BHP 27 %, FLP 20 % — it is not just watching BHP.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8046720" y="4700016"/>
            <a:ext cx="3721608" cy="1700784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8046720" y="4700016"/>
            <a:ext cx="3721608" cy="170078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50" b="1" i="0">
                <a:solidFill>
                  <a:srgbClr val="0B6FA4"/>
                </a:solidFill>
                <a:latin typeface="Arial"/>
              </a:rPr>
              <a:t>AND THE MISSING 3 % IS NOT SLACK</a:t>
            </a:r>
          </a:p>
          <a:p>
            <a:pPr>
              <a:spcAft>
                <a:spcPts val="300"/>
              </a:spcAft>
            </a:pPr>
            <a:r>
              <a:rPr sz="960" b="1" i="0">
                <a:solidFill>
                  <a:srgbClr val="0B6FA4"/>
                </a:solidFill>
                <a:latin typeface="Arial"/>
              </a:rPr>
              <a:t>We tried to recover it — and put it back.</a:t>
            </a:r>
          </a:p>
          <a:p>
            <a:pPr>
              <a:spcAft>
                <a:spcPts val="300"/>
              </a:spcAft>
            </a:pPr>
            <a:r>
              <a:rPr sz="890" b="0" i="0">
                <a:solidFill>
                  <a:srgbClr val="1A1A1A"/>
                </a:solidFill>
                <a:latin typeface="Arial"/>
              </a:rPr>
              <a:t>A span-proportional back-off reaches 99.3 % of the ceiling, but violates on 18 of 200 envelopes.</a:t>
            </a:r>
          </a:p>
          <a:p>
            <a:pPr>
              <a:spcAft>
                <a:spcPts val="300"/>
              </a:spcAft>
            </a:pPr>
            <a:r>
              <a:rPr sz="890" b="0" i="0">
                <a:solidFill>
                  <a:srgbClr val="1A1A1A"/>
                </a:solidFill>
                <a:latin typeface="Arial"/>
              </a:rPr>
              <a:t>We kept the fixed 5 psi. The 3 % is what the zero-violation guarantee costs.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29184" y="6455664"/>
            <a:ext cx="11539728" cy="310896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0"/>
              </a:spcAft>
            </a:pPr>
            <a:r>
              <a:rPr sz="980" b="1" i="0">
                <a:solidFill>
                  <a:srgbClr val="0B2E4A"/>
                </a:solidFill>
                <a:latin typeface="Arial"/>
              </a:rPr>
              <a:t>The six numbers are an INPUT, not an assumption. Whatever the real limits turn out to be, they are edited in config/operating_limits.json and everything re-runs — the architecture does not change.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000" b="1">
                <a:solidFill>
                  <a:srgbClr val="0B2E4A"/>
                </a:solidFill>
                <a:latin typeface="Times New Roman"/>
              </a:rPr>
              <a:t>CONTROL STRATEGY  —  INSIDE ONE DECISION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2" name="Picture 15361" descr="controller_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877824"/>
            <a:ext cx="11539728" cy="4723011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329184" y="5632704"/>
            <a:ext cx="3721608" cy="1152144"/>
          </a:xfrm>
          <a:prstGeom prst="rect">
            <a:avLst/>
          </a:prstGeom>
          <a:solidFill>
            <a:srgbClr val="F4F8FB"/>
          </a:solidFill>
          <a:ln w="15875">
            <a:solidFill>
              <a:srgbClr val="0B6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29184" y="5632704"/>
            <a:ext cx="3721608" cy="115214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0B6FA4"/>
                </a:solidFill>
                <a:latin typeface="Arial"/>
              </a:rPr>
              <a:t>IT ACTS ON A FORECAST, NOT A MEASUREMENT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Each thin line is a 40 h forecast committed to at that moment.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The BHP limit is enforced on the PREDICTION — by the time a measurement breaches it, BHP is already 12.4 h from settling.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4187952" y="5632704"/>
            <a:ext cx="3721608" cy="1152144"/>
          </a:xfrm>
          <a:prstGeom prst="rect">
            <a:avLst/>
          </a:prstGeom>
          <a:solidFill>
            <a:srgbClr val="FFFBF3"/>
          </a:solidFill>
          <a:ln w="15875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4187952" y="5632704"/>
            <a:ext cx="3721608" cy="115214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20C"/>
                </a:solidFill>
                <a:latin typeface="Arial"/>
              </a:rPr>
              <a:t>451 CANDIDATES, SCREENED THEN COSTED</a:t>
            </a:r>
          </a:p>
          <a:p>
            <a:pPr>
              <a:spcAft>
                <a:spcPts val="200"/>
              </a:spcAft>
            </a:pPr>
            <a:r>
              <a:rPr sz="919" b="1" i="0">
                <a:solidFill>
                  <a:srgbClr val="E8820C"/>
                </a:solidFill>
                <a:latin typeface="Arial"/>
              </a:rPr>
              <a:t>Constraint screening comes FIRST, cost second.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At t = 35 h, 98 of 451 moves are rejected because their forecast leaves the envelope; the cheapest of the 353 survivors is applied.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8046720" y="5632704"/>
            <a:ext cx="3721608" cy="1152144"/>
          </a:xfrm>
          <a:prstGeom prst="rect">
            <a:avLst/>
          </a:prstGeom>
          <a:solidFill>
            <a:srgbClr val="F1F8F1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8046720" y="5632704"/>
            <a:ext cx="3721608" cy="1152144"/>
          </a:xfrm>
          <a:prstGeom prst="rect">
            <a:avLst/>
          </a:prstGeom>
          <a:noFill/>
        </p:spPr>
        <p:txBody>
          <a:bodyPr wrap="square" lIns="100584" rIns="100584" tIns="54864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2E7D32"/>
                </a:solidFill>
                <a:latin typeface="Arial"/>
              </a:rPr>
              <a:t>THE SAFE SET SHRINKS AS THE LIMIT NEARS</a:t>
            </a:r>
          </a:p>
          <a:p>
            <a:pPr>
              <a:spcAft>
                <a:spcPts val="200"/>
              </a:spcAft>
            </a:pPr>
            <a:r>
              <a:rPr sz="919" b="1" i="0">
                <a:solidFill>
                  <a:srgbClr val="2E7D32"/>
                </a:solidFill>
                <a:latin typeface="Arial"/>
              </a:rPr>
              <a:t>451 → 153 surviving, never 0</a:t>
            </a:r>
          </a:p>
          <a:p>
            <a:pPr>
              <a:spcAft>
                <a:spcPts val="2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Early on every move is safe; parked at the BHP limit most are not. Yet the set never empties in 370 intervals — holding the choke is always feasible, so a feasible plan now guarantees one next interval.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